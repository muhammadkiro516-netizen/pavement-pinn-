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1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4"/><Relationship Id="rId3" Type="http://schemas.openxmlformats.org/officeDocument/2006/relationships/video" Target="../media/media3.mp4"/><Relationship Id="rId4" Type="http://schemas.openxmlformats.org/officeDocument/2006/relationships/image" Target="../media/image17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4.mp4"/><Relationship Id="rId3" Type="http://schemas.openxmlformats.org/officeDocument/2006/relationships/video" Target="../media/media4.mp4"/><Relationship Id="rId4" Type="http://schemas.openxmlformats.org/officeDocument/2006/relationships/image" Target="../media/image17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5.mp4"/><Relationship Id="rId3" Type="http://schemas.openxmlformats.org/officeDocument/2006/relationships/video" Target="../media/media5.mp4"/><Relationship Id="rId4" Type="http://schemas.openxmlformats.org/officeDocument/2006/relationships/image" Target="../media/image17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6.mp4"/><Relationship Id="rId3" Type="http://schemas.openxmlformats.org/officeDocument/2006/relationships/video" Target="../media/media6.mp4"/><Relationship Id="rId4" Type="http://schemas.openxmlformats.org/officeDocument/2006/relationships/image" Target="../media/image17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28600"/>
            <a:ext cx="1600200" cy="502920"/>
          </a:xfrm>
          <a:prstGeom prst="roundRect">
            <a:avLst/>
          </a:prstGeom>
          <a:noFill/>
          <a:ln w="19050">
            <a:solidFill>
              <a:srgbClr val="5A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800">
                <a:solidFill>
                  <a:srgbClr val="A1A1AA"/>
                </a:solidFill>
              </a:defRPr>
            </a:pPr>
            <a:r>
              <a:t>LOGO INTEL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03120" y="228600"/>
            <a:ext cx="2194560" cy="502920"/>
          </a:xfrm>
          <a:prstGeom prst="roundRect">
            <a:avLst/>
          </a:prstGeom>
          <a:noFill/>
          <a:ln w="19050">
            <a:solidFill>
              <a:srgbClr val="5A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800">
                <a:solidFill>
                  <a:srgbClr val="A1A1AA"/>
                </a:solidFill>
              </a:defRPr>
            </a:pPr>
            <a:r>
              <a:t>LOGO INTEL AI GLOBAL</a:t>
            </a:r>
          </a:p>
          <a:p>
            <a:pPr>
              <a:defRPr sz="800">
                <a:solidFill>
                  <a:srgbClr val="A1A1AA"/>
                </a:solidFill>
              </a:defRPr>
            </a:pPr>
            <a:r>
              <a:t>IMPACT FESTIVAL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01400" y="274320"/>
            <a:ext cx="640080" cy="201168"/>
          </a:xfrm>
          <a:prstGeom prst="rect">
            <a:avLst/>
          </a:prstGeom>
          <a:solidFill>
            <a:srgbClr val="E32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201400" y="475488"/>
            <a:ext cx="64008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27432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A1A1AA"/>
                </a:solidFill>
                <a:latin typeface="Segoe UI"/>
              </a:defRPr>
            </a:pPr>
            <a:r>
              <a:t>Intel AI Global Impact Festival 2026 · Indonesia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000" b="1">
                <a:solidFill>
                  <a:srgbClr val="F4F4F5"/>
                </a:solidFill>
                <a:latin typeface="Segoe UI"/>
              </a:defRPr>
            </a:pPr>
            <a:r>
              <a:t>PAVEMENT-PINN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0">
                <a:solidFill>
                  <a:srgbClr val="FFD60A"/>
                </a:solidFill>
                <a:latin typeface="Segoe UI"/>
              </a:defRPr>
            </a:pPr>
            <a:r>
              <a:t>Potret jalan rusak. AI dan petugas menanganinya sampai tuntas.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023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A1A1AA"/>
                </a:solidFill>
                <a:latin typeface="Segoe UI"/>
              </a:defRPr>
            </a:pPr>
            <a:r>
              <a:t>Computer Vision + Physics-Informed Neural Network di atas Intel® OpenVINO™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28600"/>
            <a:ext cx="1600200" cy="502920"/>
          </a:xfrm>
          <a:prstGeom prst="roundRect">
            <a:avLst/>
          </a:prstGeom>
          <a:noFill/>
          <a:ln w="19050">
            <a:solidFill>
              <a:srgbClr val="5A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800">
                <a:solidFill>
                  <a:srgbClr val="A1A1AA"/>
                </a:solidFill>
              </a:defRPr>
            </a:pPr>
            <a:r>
              <a:t>LOGO INTEL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03120" y="228600"/>
            <a:ext cx="2194560" cy="502920"/>
          </a:xfrm>
          <a:prstGeom prst="roundRect">
            <a:avLst/>
          </a:prstGeom>
          <a:noFill/>
          <a:ln w="19050">
            <a:solidFill>
              <a:srgbClr val="5A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800">
                <a:solidFill>
                  <a:srgbClr val="A1A1AA"/>
                </a:solidFill>
              </a:defRPr>
            </a:pPr>
            <a:r>
              <a:t>LOGO INTEL AI GLOBAL</a:t>
            </a:r>
          </a:p>
          <a:p>
            <a:pPr>
              <a:defRPr sz="800">
                <a:solidFill>
                  <a:srgbClr val="A1A1AA"/>
                </a:solidFill>
              </a:defRPr>
            </a:pPr>
            <a:r>
              <a:t>IMPACT FESTIVAL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01400" y="274320"/>
            <a:ext cx="640080" cy="201168"/>
          </a:xfrm>
          <a:prstGeom prst="rect">
            <a:avLst/>
          </a:prstGeom>
          <a:solidFill>
            <a:srgbClr val="E32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201400" y="475488"/>
            <a:ext cx="64008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27432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A1A1AA"/>
                </a:solidFill>
                <a:latin typeface="Segoe UI"/>
              </a:defRPr>
            </a:pPr>
            <a:r>
              <a:t>1 · Latar belakang masalah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058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4F4F5"/>
                </a:solidFill>
                <a:latin typeface="Segoe UI"/>
              </a:defRPr>
            </a:pPr>
            <a:r>
              <a:t>Jalan rusak: bahaya nyata, penanganan lambat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084832"/>
            <a:ext cx="384048" cy="384048"/>
          </a:xfrm>
          <a:prstGeom prst="ellipse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011680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4F4F5"/>
                </a:solidFill>
                <a:latin typeface="Segoe UI"/>
              </a:defRPr>
            </a:pPr>
            <a:r>
              <a:t>Lubang &amp; genangan membahayakan pengendara motor, terutama saat hujan dan malam hari.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953512"/>
            <a:ext cx="384048" cy="384048"/>
          </a:xfrm>
          <a:prstGeom prst="ellipse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880360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4F4F5"/>
                </a:solidFill>
                <a:latin typeface="Segoe UI"/>
              </a:defRPr>
            </a:pPr>
            <a:r>
              <a:t>Laporan warga tersebar (media sosial, telepon) tanpa bukti terstruktur dan sulit dilacak.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822192"/>
            <a:ext cx="384048" cy="384048"/>
          </a:xfrm>
          <a:prstGeom prst="ellipse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749040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4F4F5"/>
                </a:solidFill>
                <a:latin typeface="Segoe UI"/>
              </a:defRPr>
            </a:pPr>
            <a:r>
              <a:t>Petugas harus turun ke lokasi hanya untuk memastikan jenis dan ukuran kerusakan.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690872"/>
            <a:ext cx="384048" cy="384048"/>
          </a:xfrm>
          <a:prstGeom prst="ellipse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617720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4F4F5"/>
                </a:solidFill>
                <a:latin typeface="Segoe UI"/>
              </a:defRPr>
            </a:pPr>
            <a:r>
              <a:t>Perbaikan sering tambal-sulam: penyebab struktural (tanah dasar, truk ODOL, musim hujan) tidak dihitung.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5559552"/>
            <a:ext cx="384048" cy="384048"/>
          </a:xfrm>
          <a:prstGeom prst="ellipse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486400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4F4F5"/>
                </a:solidFill>
                <a:latin typeface="Segoe UI"/>
              </a:defRPr>
            </a:pPr>
            <a:r>
              <a:t>Warga tidak tahu laporannya ditangani atau tidak, sehingga kepercayaan turun.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28600"/>
            <a:ext cx="1600200" cy="502920"/>
          </a:xfrm>
          <a:prstGeom prst="roundRect">
            <a:avLst/>
          </a:prstGeom>
          <a:noFill/>
          <a:ln w="19050">
            <a:solidFill>
              <a:srgbClr val="5A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800">
                <a:solidFill>
                  <a:srgbClr val="A1A1AA"/>
                </a:solidFill>
              </a:defRPr>
            </a:pPr>
            <a:r>
              <a:t>LOGO INTEL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03120" y="228600"/>
            <a:ext cx="2194560" cy="502920"/>
          </a:xfrm>
          <a:prstGeom prst="roundRect">
            <a:avLst/>
          </a:prstGeom>
          <a:noFill/>
          <a:ln w="19050">
            <a:solidFill>
              <a:srgbClr val="5A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800">
                <a:solidFill>
                  <a:srgbClr val="A1A1AA"/>
                </a:solidFill>
              </a:defRPr>
            </a:pPr>
            <a:r>
              <a:t>LOGO INTEL AI GLOBAL</a:t>
            </a:r>
          </a:p>
          <a:p>
            <a:pPr>
              <a:defRPr sz="800">
                <a:solidFill>
                  <a:srgbClr val="A1A1AA"/>
                </a:solidFill>
              </a:defRPr>
            </a:pPr>
            <a:r>
              <a:t>IMPACT FESTIVAL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01400" y="274320"/>
            <a:ext cx="640080" cy="201168"/>
          </a:xfrm>
          <a:prstGeom prst="rect">
            <a:avLst/>
          </a:prstGeom>
          <a:solidFill>
            <a:srgbClr val="E32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201400" y="475488"/>
            <a:ext cx="64008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27432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A1A1AA"/>
                </a:solidFill>
                <a:latin typeface="Segoe UI"/>
              </a:defRPr>
            </a:pPr>
            <a:r>
              <a:t>2 · Dampak &amp; SDG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058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4F4F5"/>
                </a:solidFill>
                <a:latin typeface="Segoe UI"/>
              </a:defRPr>
            </a:pPr>
            <a:r>
              <a:t>Siapa yang terbantu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084832"/>
            <a:ext cx="384048" cy="384048"/>
          </a:xfrm>
          <a:prstGeom prst="ellipse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011680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4F4F5"/>
                </a:solidFill>
                <a:latin typeface="Segoe UI"/>
              </a:defRPr>
            </a:pPr>
            <a:r>
              <a:t>Warga: lapor dalam 30 detik, pantau sampai selesai, Rute Aman &amp; Radar Bahaya.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953512"/>
            <a:ext cx="384048" cy="384048"/>
          </a:xfrm>
          <a:prstGeom prst="ellipse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880360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4F4F5"/>
                </a:solidFill>
                <a:latin typeface="Segoe UI"/>
              </a:defRPr>
            </a:pPr>
            <a:r>
              <a:t>Petugas: inspeksi terpandu 3 sisi, ukur di foto, rekomendasi berbasis fisika.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822192"/>
            <a:ext cx="384048" cy="384048"/>
          </a:xfrm>
          <a:prstGeom prst="ellipse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749040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4F4F5"/>
                </a:solidFill>
                <a:latin typeface="Segoe UI"/>
              </a:defRPr>
            </a:pPr>
            <a:r>
              <a:t>Koordinator &amp; pimpinan: antrian prioritas, SLA, verifikasi AI, rapor instansi.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690872"/>
            <a:ext cx="384048" cy="384048"/>
          </a:xfrm>
          <a:prstGeom prst="ellipse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617720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4F4F5"/>
                </a:solidFill>
                <a:latin typeface="Segoe UI"/>
              </a:defRPr>
            </a:pPr>
            <a:r>
              <a:t>SDG 9 (infrastruktur tangguh), SDG 11 (kota aman), SDG 3.6 (keselamatan jalan), SDG 16 (institusi akuntabel).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28600"/>
            <a:ext cx="1600200" cy="502920"/>
          </a:xfrm>
          <a:prstGeom prst="roundRect">
            <a:avLst/>
          </a:prstGeom>
          <a:noFill/>
          <a:ln w="19050">
            <a:solidFill>
              <a:srgbClr val="5A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800">
                <a:solidFill>
                  <a:srgbClr val="A1A1AA"/>
                </a:solidFill>
              </a:defRPr>
            </a:pPr>
            <a:r>
              <a:t>LOGO INTEL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03120" y="228600"/>
            <a:ext cx="2194560" cy="502920"/>
          </a:xfrm>
          <a:prstGeom prst="roundRect">
            <a:avLst/>
          </a:prstGeom>
          <a:noFill/>
          <a:ln w="19050">
            <a:solidFill>
              <a:srgbClr val="5A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800">
                <a:solidFill>
                  <a:srgbClr val="A1A1AA"/>
                </a:solidFill>
              </a:defRPr>
            </a:pPr>
            <a:r>
              <a:t>LOGO INTEL AI GLOBAL</a:t>
            </a:r>
          </a:p>
          <a:p>
            <a:pPr>
              <a:defRPr sz="800">
                <a:solidFill>
                  <a:srgbClr val="A1A1AA"/>
                </a:solidFill>
              </a:defRPr>
            </a:pPr>
            <a:r>
              <a:t>IMPACT FESTIVAL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01400" y="274320"/>
            <a:ext cx="640080" cy="201168"/>
          </a:xfrm>
          <a:prstGeom prst="rect">
            <a:avLst/>
          </a:prstGeom>
          <a:solidFill>
            <a:srgbClr val="E32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201400" y="475488"/>
            <a:ext cx="64008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27432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A1A1AA"/>
                </a:solidFill>
                <a:latin typeface="Segoe UI"/>
              </a:defRPr>
            </a:pPr>
            <a:r>
              <a:t>3 · Solusi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058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4F4F5"/>
                </a:solidFill>
                <a:latin typeface="Segoe UI"/>
              </a:defRPr>
            </a:pPr>
            <a:r>
              <a:t>Satu alur, empat peran, semua tercatat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084832"/>
            <a:ext cx="384048" cy="384048"/>
          </a:xfrm>
          <a:prstGeom prst="ellipse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01168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4F4F5"/>
                </a:solidFill>
                <a:latin typeface="Segoe UI"/>
              </a:defRPr>
            </a:pPr>
            <a:r>
              <a:t>Warga memotret 3 sisi → AI mengenali 11 jenis kerusakan + genangan.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953512"/>
            <a:ext cx="384048" cy="384048"/>
          </a:xfrm>
          <a:prstGeom prst="ellipse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88036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4F4F5"/>
                </a:solidFill>
                <a:latin typeface="Segoe UI"/>
              </a:defRPr>
            </a:pPr>
            <a:r>
              <a:t>Koordinator menerima &amp; menugaskan → petugas inspeksi terpandu + ukur di foto.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822192"/>
            <a:ext cx="384048" cy="384048"/>
          </a:xfrm>
          <a:prstGeom prst="ellipse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74904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4F4F5"/>
                </a:solidFill>
                <a:latin typeface="Segoe UI"/>
              </a:defRPr>
            </a:pPr>
            <a:r>
              <a:t>PINN menghitung sisa umur dengan lapisan jalan, beban truk, dan curah hujan Open-Meteo.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690872"/>
            <a:ext cx="384048" cy="384048"/>
          </a:xfrm>
          <a:prstGeom prst="ellipse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61772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4F4F5"/>
                </a:solidFill>
                <a:latin typeface="Segoe UI"/>
              </a:defRPr>
            </a:pPr>
            <a:r>
              <a:t>SPK → perbaikan → AI memeriksa foto sesudah → warga mengonfirmasi.</a:t>
            </a:r>
          </a:p>
        </p:txBody>
      </p:sp>
      <p:pic>
        <p:nvPicPr>
          <p:cNvPr id="16" name="Picture 15" descr="15-15_alur_lapor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828800"/>
            <a:ext cx="5486400" cy="3086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28600"/>
            <a:ext cx="1600200" cy="502920"/>
          </a:xfrm>
          <a:prstGeom prst="roundRect">
            <a:avLst/>
          </a:prstGeom>
          <a:noFill/>
          <a:ln w="19050">
            <a:solidFill>
              <a:srgbClr val="5A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800">
                <a:solidFill>
                  <a:srgbClr val="A1A1AA"/>
                </a:solidFill>
              </a:defRPr>
            </a:pPr>
            <a:r>
              <a:t>LOGO INTEL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03120" y="228600"/>
            <a:ext cx="2194560" cy="502920"/>
          </a:xfrm>
          <a:prstGeom prst="roundRect">
            <a:avLst/>
          </a:prstGeom>
          <a:noFill/>
          <a:ln w="19050">
            <a:solidFill>
              <a:srgbClr val="5A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800">
                <a:solidFill>
                  <a:srgbClr val="A1A1AA"/>
                </a:solidFill>
              </a:defRPr>
            </a:pPr>
            <a:r>
              <a:t>LOGO INTEL AI GLOBAL</a:t>
            </a:r>
          </a:p>
          <a:p>
            <a:pPr>
              <a:defRPr sz="800">
                <a:solidFill>
                  <a:srgbClr val="A1A1AA"/>
                </a:solidFill>
              </a:defRPr>
            </a:pPr>
            <a:r>
              <a:t>IMPACT FESTIVAL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01400" y="274320"/>
            <a:ext cx="640080" cy="201168"/>
          </a:xfrm>
          <a:prstGeom prst="rect">
            <a:avLst/>
          </a:prstGeom>
          <a:solidFill>
            <a:srgbClr val="E32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201400" y="475488"/>
            <a:ext cx="64008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27432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A1A1AA"/>
                </a:solidFill>
                <a:latin typeface="Segoe UI"/>
              </a:defRPr>
            </a:pPr>
            <a:r>
              <a:t>4 · Teknologi AI &amp; Intel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058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4F4F5"/>
                </a:solidFill>
                <a:latin typeface="Segoe UI"/>
              </a:defRPr>
            </a:pPr>
            <a:r>
              <a:t>Semua model berjalan lokal di Intel® OpenVINO™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084832"/>
            <a:ext cx="384048" cy="384048"/>
          </a:xfrm>
          <a:prstGeom prst="ellipse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01168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4F4F5"/>
                </a:solidFill>
                <a:latin typeface="Segoe UI"/>
              </a:defRPr>
            </a:pPr>
            <a:r>
              <a:t>YOLOv8n deteksi + YOLOv8s-seg segmentasi retak + CLIP ViT-B/32 scene (INT8, NNCF).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953512"/>
            <a:ext cx="384048" cy="384048"/>
          </a:xfrm>
          <a:prstGeom prst="ellipse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88036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4F4F5"/>
                </a:solidFill>
                <a:latin typeface="Segoe UI"/>
              </a:defRPr>
            </a:pPr>
            <a:r>
              <a:t>PINN surrogate (FP32/FP16/INT8) + solver MLET PyMastic sebagai rujukan fisika.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822192"/>
            <a:ext cx="384048" cy="384048"/>
          </a:xfrm>
          <a:prstGeom prst="ellipse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74904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4F4F5"/>
                </a:solidFill>
                <a:latin typeface="Segoe UI"/>
              </a:defRPr>
            </a:pPr>
            <a:r>
              <a:t>SLM Qwen2.5-1.5B INT4 via OpenVINO GenAI untuk draf usulan (angka dari mesin).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690872"/>
            <a:ext cx="384048" cy="384048"/>
          </a:xfrm>
          <a:prstGeom prst="ellipse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61772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4F4F5"/>
                </a:solidFill>
                <a:latin typeface="Segoe UI"/>
              </a:defRPr>
            </a:pPr>
            <a:r>
              <a:t>Siap CPU, iGPU, dan NPU Intel Core Ultra (bench/run_all.py).</a:t>
            </a:r>
          </a:p>
        </p:txBody>
      </p:sp>
      <p:pic>
        <p:nvPicPr>
          <p:cNvPr id="16" name="Picture 15" descr="14-14_arsitektur_sist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828800"/>
            <a:ext cx="5486400" cy="3086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0-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1-01_dataset_distribusi_in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2-02_dataset_label_regang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3-03_dataset_contoh_bar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4-04_training_terminal_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5-05_training_loss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6-06_training_ablation_phys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7-07_evaluasi_parity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8-08_evaluasi_distribusi_gal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9-09_kecepatan_pinn_vs_sol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10-10_openvino_latensi_presis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11-12_cv_scene_probabilit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12-13_cv_pipeline_wakt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13-18_cuaca_open_meteo_bulan_basa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28600"/>
            <a:ext cx="1600200" cy="502920"/>
          </a:xfrm>
          <a:prstGeom prst="roundRect">
            <a:avLst/>
          </a:prstGeom>
          <a:noFill/>
          <a:ln w="19050">
            <a:solidFill>
              <a:srgbClr val="5A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800">
                <a:solidFill>
                  <a:srgbClr val="A1A1AA"/>
                </a:solidFill>
              </a:defRPr>
            </a:pPr>
            <a:r>
              <a:t>LOGO INTEL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03120" y="228600"/>
            <a:ext cx="2194560" cy="502920"/>
          </a:xfrm>
          <a:prstGeom prst="roundRect">
            <a:avLst/>
          </a:prstGeom>
          <a:noFill/>
          <a:ln w="19050">
            <a:solidFill>
              <a:srgbClr val="5A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800">
                <a:solidFill>
                  <a:srgbClr val="A1A1AA"/>
                </a:solidFill>
              </a:defRPr>
            </a:pPr>
            <a:r>
              <a:t>LOGO INTEL AI GLOBAL</a:t>
            </a:r>
          </a:p>
          <a:p>
            <a:pPr>
              <a:defRPr sz="800">
                <a:solidFill>
                  <a:srgbClr val="A1A1AA"/>
                </a:solidFill>
              </a:defRPr>
            </a:pPr>
            <a:r>
              <a:t>IMPACT FESTIVAL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01400" y="274320"/>
            <a:ext cx="640080" cy="201168"/>
          </a:xfrm>
          <a:prstGeom prst="rect">
            <a:avLst/>
          </a:prstGeom>
          <a:solidFill>
            <a:srgbClr val="E32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201400" y="475488"/>
            <a:ext cx="64008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27432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A1A1AA"/>
                </a:solidFill>
                <a:latin typeface="Segoe UI"/>
              </a:defRPr>
            </a:pPr>
            <a:r>
              <a:t>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05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4F4F5"/>
                </a:solidFill>
                <a:latin typeface="Segoe UI"/>
              </a:defRPr>
            </a:pPr>
            <a:r>
              <a:t>Training PINN (rekaman run asli)</a:t>
            </a:r>
          </a:p>
        </p:txBody>
      </p:sp>
      <p:pic>
        <p:nvPicPr>
          <p:cNvPr id="8" name="training_pinn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737360" y="1828800"/>
            <a:ext cx="8686800" cy="48463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28600"/>
            <a:ext cx="1600200" cy="502920"/>
          </a:xfrm>
          <a:prstGeom prst="roundRect">
            <a:avLst/>
          </a:prstGeom>
          <a:noFill/>
          <a:ln w="19050">
            <a:solidFill>
              <a:srgbClr val="5A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800">
                <a:solidFill>
                  <a:srgbClr val="A1A1AA"/>
                </a:solidFill>
              </a:defRPr>
            </a:pPr>
            <a:r>
              <a:t>LOGO INTEL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03120" y="228600"/>
            <a:ext cx="2194560" cy="502920"/>
          </a:xfrm>
          <a:prstGeom prst="roundRect">
            <a:avLst/>
          </a:prstGeom>
          <a:noFill/>
          <a:ln w="19050">
            <a:solidFill>
              <a:srgbClr val="5A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800">
                <a:solidFill>
                  <a:srgbClr val="A1A1AA"/>
                </a:solidFill>
              </a:defRPr>
            </a:pPr>
            <a:r>
              <a:t>LOGO INTEL AI GLOBAL</a:t>
            </a:r>
          </a:p>
          <a:p>
            <a:pPr>
              <a:defRPr sz="800">
                <a:solidFill>
                  <a:srgbClr val="A1A1AA"/>
                </a:solidFill>
              </a:defRPr>
            </a:pPr>
            <a:r>
              <a:t>IMPACT FESTIVAL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01400" y="274320"/>
            <a:ext cx="640080" cy="201168"/>
          </a:xfrm>
          <a:prstGeom prst="rect">
            <a:avLst/>
          </a:prstGeom>
          <a:solidFill>
            <a:srgbClr val="E32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201400" y="475488"/>
            <a:ext cx="64008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27432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A1A1AA"/>
                </a:solidFill>
                <a:latin typeface="Segoe UI"/>
              </a:defRPr>
            </a:pPr>
            <a:r>
              <a:t>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05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4F4F5"/>
                </a:solidFill>
                <a:latin typeface="Segoe UI"/>
              </a:defRPr>
            </a:pPr>
            <a:r>
              <a:t>Proses deteksi AI pada foto jalan nyata</a:t>
            </a:r>
          </a:p>
        </p:txBody>
      </p:sp>
      <p:pic>
        <p:nvPicPr>
          <p:cNvPr id="8" name="deteksi_jalan-berlubang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737360" y="1828800"/>
            <a:ext cx="8686800" cy="48463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0-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1-warga-peta-sekitar-an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2-warga-kamera-ai-langsu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3-warga-foto-dipili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4-warga-hasil-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5-warga-foto-3-sis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6-warga-laporan-terkir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7-koordinator-pusat-kendal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8-petugas-tugas-say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9-petugas-inspeksi-3-sisi-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10-petugas-ukur-di-foto-at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11-petugas-ukur-kedalaman-foto-samp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12-petugas-ukuran-dan-catat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13-koordinator-ringkasan-kas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14-koordinator-ringkasan-cua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15-petugas-analisis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16-petugas-analisis-stru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17-petugas-analisis-pin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18-petugas-analisis-pinn-has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19-petugas-analisis-pinn-keputus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-koordinator-spk-terb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1-koordinator-verifikasi-perbaik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2-warga-kawal-seles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3-warga-notifikas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28600"/>
            <a:ext cx="1600200" cy="502920"/>
          </a:xfrm>
          <a:prstGeom prst="roundRect">
            <a:avLst/>
          </a:prstGeom>
          <a:noFill/>
          <a:ln w="19050">
            <a:solidFill>
              <a:srgbClr val="5A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800">
                <a:solidFill>
                  <a:srgbClr val="A1A1AA"/>
                </a:solidFill>
              </a:defRPr>
            </a:pPr>
            <a:r>
              <a:t>LOGO INTEL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03120" y="228600"/>
            <a:ext cx="2194560" cy="502920"/>
          </a:xfrm>
          <a:prstGeom prst="roundRect">
            <a:avLst/>
          </a:prstGeom>
          <a:noFill/>
          <a:ln w="19050">
            <a:solidFill>
              <a:srgbClr val="5A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800">
                <a:solidFill>
                  <a:srgbClr val="A1A1AA"/>
                </a:solidFill>
              </a:defRPr>
            </a:pPr>
            <a:r>
              <a:t>LOGO INTEL AI GLOBAL</a:t>
            </a:r>
          </a:p>
          <a:p>
            <a:pPr>
              <a:defRPr sz="800">
                <a:solidFill>
                  <a:srgbClr val="A1A1AA"/>
                </a:solidFill>
              </a:defRPr>
            </a:pPr>
            <a:r>
              <a:t>IMPACT FESTIVAL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01400" y="274320"/>
            <a:ext cx="640080" cy="201168"/>
          </a:xfrm>
          <a:prstGeom prst="rect">
            <a:avLst/>
          </a:prstGeom>
          <a:solidFill>
            <a:srgbClr val="E32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201400" y="475488"/>
            <a:ext cx="64008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27432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A1A1AA"/>
                </a:solidFill>
                <a:latin typeface="Segoe UI"/>
              </a:defRPr>
            </a:pPr>
            <a:r>
              <a:t>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05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4F4F5"/>
                </a:solidFill>
                <a:latin typeface="Segoe UI"/>
              </a:defRPr>
            </a:pPr>
            <a:r>
              <a:t>Rekaman layar: simulasi A warga-melapor</a:t>
            </a:r>
          </a:p>
        </p:txBody>
      </p:sp>
      <p:pic>
        <p:nvPicPr>
          <p:cNvPr id="8" name="simulasi_A_warga-melapor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737360" y="1828800"/>
            <a:ext cx="8686800" cy="48463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28600"/>
            <a:ext cx="1600200" cy="502920"/>
          </a:xfrm>
          <a:prstGeom prst="roundRect">
            <a:avLst/>
          </a:prstGeom>
          <a:noFill/>
          <a:ln w="19050">
            <a:solidFill>
              <a:srgbClr val="5A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800">
                <a:solidFill>
                  <a:srgbClr val="A1A1AA"/>
                </a:solidFill>
              </a:defRPr>
            </a:pPr>
            <a:r>
              <a:t>LOGO INTEL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03120" y="228600"/>
            <a:ext cx="2194560" cy="502920"/>
          </a:xfrm>
          <a:prstGeom prst="roundRect">
            <a:avLst/>
          </a:prstGeom>
          <a:noFill/>
          <a:ln w="19050">
            <a:solidFill>
              <a:srgbClr val="5A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800">
                <a:solidFill>
                  <a:srgbClr val="A1A1AA"/>
                </a:solidFill>
              </a:defRPr>
            </a:pPr>
            <a:r>
              <a:t>LOGO INTEL AI GLOBAL</a:t>
            </a:r>
          </a:p>
          <a:p>
            <a:pPr>
              <a:defRPr sz="800">
                <a:solidFill>
                  <a:srgbClr val="A1A1AA"/>
                </a:solidFill>
              </a:defRPr>
            </a:pPr>
            <a:r>
              <a:t>IMPACT FESTIVAL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01400" y="274320"/>
            <a:ext cx="640080" cy="201168"/>
          </a:xfrm>
          <a:prstGeom prst="rect">
            <a:avLst/>
          </a:prstGeom>
          <a:solidFill>
            <a:srgbClr val="E32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201400" y="475488"/>
            <a:ext cx="64008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27432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A1A1AA"/>
                </a:solidFill>
                <a:latin typeface="Segoe UI"/>
              </a:defRPr>
            </a:pPr>
            <a:r>
              <a:t>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05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4F4F5"/>
                </a:solidFill>
                <a:latin typeface="Segoe UI"/>
              </a:defRPr>
            </a:pPr>
            <a:r>
              <a:t>Rekaman layar: simulasi A petugas-inspeksi</a:t>
            </a:r>
          </a:p>
        </p:txBody>
      </p:sp>
      <p:pic>
        <p:nvPicPr>
          <p:cNvPr id="8" name="simulasi_A_petugas-inspeksi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737360" y="1828800"/>
            <a:ext cx="8686800" cy="48463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0-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1-warga-peta-sekitar-an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2-warga-kamera-ai-langsu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3-warga-foto-dipili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4-warga-hasil-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5-warga-foto-3-sis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6-warga-laporan-terkir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7-koordinator-pusat-kendal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8-petugas-tugas-say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9-petugas-inspeksi-3-sisi-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10-petugas-ukur-di-foto-at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11-petugas-ukur-kedalaman-foto-samp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12-petugas-ukuran-dan-catat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13-koordinator-ringkasan-kas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14-koordinator-ringkasan-cua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15-petugas-analisis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16-petugas-analisis-stru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17-petugas-analisis-pin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18-petugas-analisis-pinn-has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19-petugas-analisis-pinn-keputus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-koordinator-spk-terb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1-koordinator-verifikasi-perbaik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2-warga-kawal-seles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3-warga-notifikas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28600"/>
            <a:ext cx="1600200" cy="502920"/>
          </a:xfrm>
          <a:prstGeom prst="roundRect">
            <a:avLst/>
          </a:prstGeom>
          <a:noFill/>
          <a:ln w="19050">
            <a:solidFill>
              <a:srgbClr val="5A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800">
                <a:solidFill>
                  <a:srgbClr val="A1A1AA"/>
                </a:solidFill>
              </a:defRPr>
            </a:pPr>
            <a:r>
              <a:t>LOGO INTEL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03120" y="228600"/>
            <a:ext cx="2194560" cy="502920"/>
          </a:xfrm>
          <a:prstGeom prst="roundRect">
            <a:avLst/>
          </a:prstGeom>
          <a:noFill/>
          <a:ln w="19050">
            <a:solidFill>
              <a:srgbClr val="5A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800">
                <a:solidFill>
                  <a:srgbClr val="A1A1AA"/>
                </a:solidFill>
              </a:defRPr>
            </a:pPr>
            <a:r>
              <a:t>LOGO INTEL AI GLOBAL</a:t>
            </a:r>
          </a:p>
          <a:p>
            <a:pPr>
              <a:defRPr sz="800">
                <a:solidFill>
                  <a:srgbClr val="A1A1AA"/>
                </a:solidFill>
              </a:defRPr>
            </a:pPr>
            <a:r>
              <a:t>IMPACT FESTIVAL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01400" y="274320"/>
            <a:ext cx="640080" cy="201168"/>
          </a:xfrm>
          <a:prstGeom prst="rect">
            <a:avLst/>
          </a:prstGeom>
          <a:solidFill>
            <a:srgbClr val="E32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201400" y="475488"/>
            <a:ext cx="64008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27432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A1A1AA"/>
                </a:solidFill>
                <a:latin typeface="Segoe UI"/>
              </a:defRPr>
            </a:pPr>
            <a:r>
              <a:t>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05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4F4F5"/>
                </a:solidFill>
                <a:latin typeface="Segoe UI"/>
              </a:defRPr>
            </a:pPr>
            <a:r>
              <a:t>Rekaman layar: simulasi B warga-melapor</a:t>
            </a:r>
          </a:p>
        </p:txBody>
      </p:sp>
      <p:pic>
        <p:nvPicPr>
          <p:cNvPr id="8" name="simulasi_B_warga-melapor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737360" y="1828800"/>
            <a:ext cx="8686800" cy="48463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28600"/>
            <a:ext cx="1600200" cy="502920"/>
          </a:xfrm>
          <a:prstGeom prst="roundRect">
            <a:avLst/>
          </a:prstGeom>
          <a:noFill/>
          <a:ln w="19050">
            <a:solidFill>
              <a:srgbClr val="5A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800">
                <a:solidFill>
                  <a:srgbClr val="A1A1AA"/>
                </a:solidFill>
              </a:defRPr>
            </a:pPr>
            <a:r>
              <a:t>LOGO INTEL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03120" y="228600"/>
            <a:ext cx="2194560" cy="502920"/>
          </a:xfrm>
          <a:prstGeom prst="roundRect">
            <a:avLst/>
          </a:prstGeom>
          <a:noFill/>
          <a:ln w="19050">
            <a:solidFill>
              <a:srgbClr val="5A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800">
                <a:solidFill>
                  <a:srgbClr val="A1A1AA"/>
                </a:solidFill>
              </a:defRPr>
            </a:pPr>
            <a:r>
              <a:t>LOGO INTEL AI GLOBAL</a:t>
            </a:r>
          </a:p>
          <a:p>
            <a:pPr>
              <a:defRPr sz="800">
                <a:solidFill>
                  <a:srgbClr val="A1A1AA"/>
                </a:solidFill>
              </a:defRPr>
            </a:pPr>
            <a:r>
              <a:t>IMPACT FESTIVAL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01400" y="274320"/>
            <a:ext cx="640080" cy="201168"/>
          </a:xfrm>
          <a:prstGeom prst="rect">
            <a:avLst/>
          </a:prstGeom>
          <a:solidFill>
            <a:srgbClr val="E32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201400" y="475488"/>
            <a:ext cx="64008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27432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A1A1AA"/>
                </a:solidFill>
                <a:latin typeface="Segoe UI"/>
              </a:defRPr>
            </a:pPr>
            <a:r>
              <a:t>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05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4F4F5"/>
                </a:solidFill>
                <a:latin typeface="Segoe UI"/>
              </a:defRPr>
            </a:pPr>
            <a:r>
              <a:t>Rekaman layar: simulasi B petugas-inspeksi</a:t>
            </a:r>
          </a:p>
        </p:txBody>
      </p:sp>
      <p:pic>
        <p:nvPicPr>
          <p:cNvPr id="8" name="simulasi_B_petugas-inspeksi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737360" y="1828800"/>
            <a:ext cx="8686800" cy="48463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28600"/>
            <a:ext cx="1600200" cy="502920"/>
          </a:xfrm>
          <a:prstGeom prst="roundRect">
            <a:avLst/>
          </a:prstGeom>
          <a:noFill/>
          <a:ln w="19050">
            <a:solidFill>
              <a:srgbClr val="5A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800">
                <a:solidFill>
                  <a:srgbClr val="A1A1AA"/>
                </a:solidFill>
              </a:defRPr>
            </a:pPr>
            <a:r>
              <a:t>LOGO INTEL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03120" y="228600"/>
            <a:ext cx="2194560" cy="502920"/>
          </a:xfrm>
          <a:prstGeom prst="roundRect">
            <a:avLst/>
          </a:prstGeom>
          <a:noFill/>
          <a:ln w="19050">
            <a:solidFill>
              <a:srgbClr val="5A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800">
                <a:solidFill>
                  <a:srgbClr val="A1A1AA"/>
                </a:solidFill>
              </a:defRPr>
            </a:pPr>
            <a:r>
              <a:t>LOGO INTEL AI GLOBAL</a:t>
            </a:r>
          </a:p>
          <a:p>
            <a:pPr>
              <a:defRPr sz="800">
                <a:solidFill>
                  <a:srgbClr val="A1A1AA"/>
                </a:solidFill>
              </a:defRPr>
            </a:pPr>
            <a:r>
              <a:t>IMPACT FESTIVAL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01400" y="274320"/>
            <a:ext cx="640080" cy="201168"/>
          </a:xfrm>
          <a:prstGeom prst="rect">
            <a:avLst/>
          </a:prstGeom>
          <a:solidFill>
            <a:srgbClr val="E32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201400" y="475488"/>
            <a:ext cx="64008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27432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A1A1AA"/>
                </a:solidFill>
                <a:latin typeface="Segoe UI"/>
              </a:defRPr>
            </a:pPr>
            <a:r>
              <a:t>6 · AI yang bertanggung jawab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058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4F4F5"/>
                </a:solidFill>
                <a:latin typeface="Segoe UI"/>
              </a:defRPr>
            </a:pPr>
            <a:r>
              <a:t>Manusia tetap memutuskan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084832"/>
            <a:ext cx="384048" cy="384048"/>
          </a:xfrm>
          <a:prstGeom prst="ellipse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011680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4F4F5"/>
                </a:solidFill>
                <a:latin typeface="Segoe UI"/>
              </a:defRPr>
            </a:pPr>
            <a:r>
              <a:t>Setiap keputusan staf wajib beralasan dan tercatat (audit log).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953512"/>
            <a:ext cx="384048" cy="384048"/>
          </a:xfrm>
          <a:prstGeom prst="ellipse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880360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4F4F5"/>
                </a:solidFill>
                <a:latin typeface="Segoe UI"/>
              </a:defRPr>
            </a:pPr>
            <a:r>
              <a:t>Hasil AI dari klien dibuang; server hanya memakai analisis dari penyimpanannya sendiri.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822192"/>
            <a:ext cx="384048" cy="384048"/>
          </a:xfrm>
          <a:prstGeom prst="ellipse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749040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4F4F5"/>
                </a:solidFill>
                <a:latin typeface="Segoe UI"/>
              </a:defRPr>
            </a:pPr>
            <a:r>
              <a:t>EXIF foto dihapus, lokasi dari GPS saat itu, bahasa netral tanpa tuduhan.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690872"/>
            <a:ext cx="384048" cy="384048"/>
          </a:xfrm>
          <a:prstGeom prst="ellipse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617720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4F4F5"/>
                </a:solidFill>
                <a:latin typeface="Segoe UI"/>
              </a:defRPr>
            </a:pPr>
            <a:r>
              <a:t>Pengusul penanganan tidak bisa menyetujui sendiri; angka diberi label terukur/asumsi.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28600"/>
            <a:ext cx="1600200" cy="502920"/>
          </a:xfrm>
          <a:prstGeom prst="roundRect">
            <a:avLst/>
          </a:prstGeom>
          <a:noFill/>
          <a:ln w="19050">
            <a:solidFill>
              <a:srgbClr val="5A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800">
                <a:solidFill>
                  <a:srgbClr val="A1A1AA"/>
                </a:solidFill>
              </a:defRPr>
            </a:pPr>
            <a:r>
              <a:t>LOGO INTEL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03120" y="228600"/>
            <a:ext cx="2194560" cy="502920"/>
          </a:xfrm>
          <a:prstGeom prst="roundRect">
            <a:avLst/>
          </a:prstGeom>
          <a:noFill/>
          <a:ln w="19050">
            <a:solidFill>
              <a:srgbClr val="5A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800">
                <a:solidFill>
                  <a:srgbClr val="A1A1AA"/>
                </a:solidFill>
              </a:defRPr>
            </a:pPr>
            <a:r>
              <a:t>LOGO INTEL AI GLOBAL</a:t>
            </a:r>
          </a:p>
          <a:p>
            <a:pPr>
              <a:defRPr sz="800">
                <a:solidFill>
                  <a:srgbClr val="A1A1AA"/>
                </a:solidFill>
              </a:defRPr>
            </a:pPr>
            <a:r>
              <a:t>IMPACT FESTIVAL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01400" y="274320"/>
            <a:ext cx="640080" cy="201168"/>
          </a:xfrm>
          <a:prstGeom prst="rect">
            <a:avLst/>
          </a:prstGeom>
          <a:solidFill>
            <a:srgbClr val="E32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201400" y="475488"/>
            <a:ext cx="64008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27432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A1A1AA"/>
                </a:solidFill>
                <a:latin typeface="Segoe UI"/>
              </a:defRPr>
            </a:pPr>
            <a:r>
              <a:t>7 · Kelayakan &amp; rencana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058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4F4F5"/>
                </a:solidFill>
                <a:latin typeface="Segoe UI"/>
              </a:defRPr>
            </a:pPr>
            <a:r>
              <a:t>Dari pilot ke skala kota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084832"/>
            <a:ext cx="384048" cy="384048"/>
          </a:xfrm>
          <a:prstGeom prst="ellipse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011680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4F4F5"/>
                </a:solidFill>
                <a:latin typeface="Segoe UI"/>
              </a:defRPr>
            </a:pPr>
            <a:r>
              <a:t>Pilot: DKI Jakarta + Karawang dengan 5 instansi (nasional, provinsi, kota/kabupaten).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953512"/>
            <a:ext cx="384048" cy="384048"/>
          </a:xfrm>
          <a:prstGeom prst="ellipse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880360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4F4F5"/>
                </a:solidFill>
                <a:latin typeface="Segoe UI"/>
              </a:defRPr>
            </a:pPr>
            <a:r>
              <a:t>Berjalan di laptop biasa; siap VPS/Docker (deploy_vm.sh, docker-compose).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822192"/>
            <a:ext cx="384048" cy="384048"/>
          </a:xfrm>
          <a:prstGeom prst="ellipse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749040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4F4F5"/>
                </a:solidFill>
                <a:latin typeface="Segoe UI"/>
              </a:defRPr>
            </a:pPr>
            <a:r>
              <a:t>Berikutnya: uji NPU Intel Core Ultra, akurasi lapangan ≥ 20 foto/kelas, uji SUS warga &amp; petugas.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690872"/>
            <a:ext cx="384048" cy="384048"/>
          </a:xfrm>
          <a:prstGeom prst="ellipse">
            <a:avLst/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617720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4F4F5"/>
                </a:solidFill>
                <a:latin typeface="Segoe UI"/>
              </a:defRPr>
            </a:pPr>
            <a:r>
              <a:t>Skala: basis data, integrasi SIM jalan instansi, data WIM untuk beban truk.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28600"/>
            <a:ext cx="1600200" cy="502920"/>
          </a:xfrm>
          <a:prstGeom prst="roundRect">
            <a:avLst/>
          </a:prstGeom>
          <a:noFill/>
          <a:ln w="19050">
            <a:solidFill>
              <a:srgbClr val="5A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800">
                <a:solidFill>
                  <a:srgbClr val="A1A1AA"/>
                </a:solidFill>
              </a:defRPr>
            </a:pPr>
            <a:r>
              <a:t>LOGO INTEL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03120" y="228600"/>
            <a:ext cx="2194560" cy="502920"/>
          </a:xfrm>
          <a:prstGeom prst="roundRect">
            <a:avLst/>
          </a:prstGeom>
          <a:noFill/>
          <a:ln w="19050">
            <a:solidFill>
              <a:srgbClr val="5A5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800">
                <a:solidFill>
                  <a:srgbClr val="A1A1AA"/>
                </a:solidFill>
              </a:defRPr>
            </a:pPr>
            <a:r>
              <a:t>LOGO INTEL AI GLOBAL</a:t>
            </a:r>
          </a:p>
          <a:p>
            <a:pPr>
              <a:defRPr sz="800">
                <a:solidFill>
                  <a:srgbClr val="A1A1AA"/>
                </a:solidFill>
              </a:defRPr>
            </a:pPr>
            <a:r>
              <a:t>IMPACT FESTIVAL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01400" y="274320"/>
            <a:ext cx="640080" cy="201168"/>
          </a:xfrm>
          <a:prstGeom prst="rect">
            <a:avLst/>
          </a:prstGeom>
          <a:solidFill>
            <a:srgbClr val="E32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201400" y="475488"/>
            <a:ext cx="64008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27432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A1A1AA"/>
                </a:solidFill>
                <a:latin typeface="Segoe UI"/>
              </a:defRPr>
            </a:pPr>
            <a:r>
              <a:t>Terima kasih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4F4F5"/>
                </a:solidFill>
                <a:latin typeface="Segoe UI"/>
              </a:defRPr>
            </a:pPr>
            <a:r>
              <a:t>Terima kasih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4747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0">
                <a:solidFill>
                  <a:srgbClr val="FFD60A"/>
                </a:solidFill>
                <a:latin typeface="Segoe UI"/>
              </a:defRPr>
            </a:pPr>
            <a:r>
              <a:t>Coba langsung: https://avlfelo.tail8b73d2.ts.net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206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A1A1AA"/>
                </a:solidFill>
                <a:latin typeface="Segoe UI"/>
              </a:defRPr>
            </a:pPr>
            <a:r>
              <a:t>Kode &amp; dokumentasi: github.com/muhammadkiro516-netizen/Pavement-PINN-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