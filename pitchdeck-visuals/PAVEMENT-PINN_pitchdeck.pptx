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1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Intel AI Global Impact Festival 2026 ·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4F4F5"/>
                </a:solidFill>
                <a:latin typeface="Segoe UI"/>
              </a:defRPr>
            </a:pPr>
            <a:r>
              <a:t>PAVEMENT-PINN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FFD60A"/>
                </a:solidFill>
                <a:latin typeface="Segoe UI"/>
              </a:defRPr>
            </a:pPr>
            <a:r>
              <a:t>Potret jalan rusak. AI dan petugas menanganinya sampai tuntas.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A1A1AA"/>
                </a:solidFill>
                <a:latin typeface="Segoe UI"/>
              </a:defRPr>
            </a:pPr>
            <a:r>
              <a:t>Computer Vision + Physics-Informed Neural Network di atas Intel® OpenVINO™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1 · Latar belakang masalah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  <a:latin typeface="Segoe UI"/>
              </a:defRPr>
            </a:pPr>
            <a:r>
              <a:t>Jalan rusak: bahaya nyata, penanganan lambat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Lubang &amp; genangan membahayakan pengendara motor, terutama saat hujan dan malam hari.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Laporan warga tersebar (media sosial, telepon) tanpa bukti terstruktur dan sulit dilacak.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Petugas harus turun ke lokasi hanya untuk memastikan jenis dan ukuran kerusakan.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Perbaikan sering tambal-sulam: penyebab struktural (tanah dasar, truk ODOL, musim hujan) tidak dihitung.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55955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Warga tidak tahu laporannya ditangani atau tidak, sehingga kepercayaan turun.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2 · Dampak &amp; SDG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  <a:latin typeface="Segoe UI"/>
              </a:defRPr>
            </a:pPr>
            <a:r>
              <a:t>Siapa yang terbantu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Warga: lapor dalam 30 detik, pantau sampai selesai, Rute Aman &amp; Radar Bahaya.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Petugas: inspeksi terpandu 3 sisi, ukur di foto, rekomendasi berbasis fisika.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Koordinator &amp; pimpinan: antrian prioritas, SLA, verifikasi AI, rapor instansi.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SDG 9 (infrastruktur tangguh), SDG 11 (kota aman), SDG 3.6 (keselamatan jalan), SDG 16 (institusi akuntabel).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3 · Solusi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  <a:latin typeface="Segoe UI"/>
              </a:defRPr>
            </a:pPr>
            <a:r>
              <a:t>Satu alur, empat peran, semua tercatat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Warga memotret 3 sisi → AI mengenali 11 jenis kerusakan + genangan.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Koordinator menerima &amp; menugaskan → petugas inspeksi terpandu + ukur di foto.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PINN menghitung sisa umur dengan lapisan jalan, beban truk, dan curah hujan Open-Meteo.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SPK → perbaikan → AI memeriksa foto sesudah → warga mengonfirmasi.</a:t>
            </a:r>
          </a:p>
        </p:txBody>
      </p:sp>
      <p:pic>
        <p:nvPicPr>
          <p:cNvPr id="16" name="Picture 15" descr="15-15_alur_lapo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4 · Teknologi AI &amp; Intel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  <a:latin typeface="Segoe UI"/>
              </a:defRPr>
            </a:pPr>
            <a:r>
              <a:t>Semua model berjalan lokal di Intel® OpenVINO™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YOLOv8n deteksi + YOLOv8s-seg segmentasi retak + CLIP ViT-B/32 scene (INT8, NNCF).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PINN surrogate (FP32/FP16/INT8) + solver MLET PyMastic sebagai rujukan fisika.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SLM Qwen2.5-1.5B INT4 via OpenVINO GenAI untuk draf usulan (angka dari mesin).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Siap CPU, iGPU, dan NPU Intel Core Ultra (bench/run_all.py).</a:t>
            </a:r>
          </a:p>
        </p:txBody>
      </p:sp>
      <p:pic>
        <p:nvPicPr>
          <p:cNvPr id="16" name="Picture 15" descr="14-14_arsitektur_si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01_dataset_distribusi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02_dataset_label_regan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03_dataset_contoh_ba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04_training_terminal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05_training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-06_training_ablation_phy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-07_evaluasi_parit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-08_evaluasi_distribusi_ga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-09_kecepatan_pinn_vs_sol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-10_openvino_latensi_pres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1-12_cv_scene_probabili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2-13_cv_pipeline_wak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3-18_cuaca_open_meteo_bulan_bas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5"/>
                </a:solidFill>
                <a:latin typeface="Segoe UI"/>
              </a:defRPr>
            </a:pPr>
            <a:r>
              <a:t>Training PINN (rekaman run asli)</a:t>
            </a:r>
          </a:p>
        </p:txBody>
      </p:sp>
      <p:pic>
        <p:nvPicPr>
          <p:cNvPr id="8" name="training_pin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828800"/>
            <a:ext cx="8686800" cy="484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5"/>
                </a:solidFill>
                <a:latin typeface="Segoe UI"/>
              </a:defRPr>
            </a:pPr>
            <a:r>
              <a:t>Proses deteksi AI pada foto jalan nyata</a:t>
            </a:r>
          </a:p>
        </p:txBody>
      </p:sp>
      <p:pic>
        <p:nvPicPr>
          <p:cNvPr id="8" name="deteksi_jalan-berluba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828800"/>
            <a:ext cx="8686800" cy="484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warga-peta-sekitar-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warga-kamera-ai-langs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warga-foto-dipil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warga-hasil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warga-foto-3-s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-warga-laporan-terki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-koordinator-pusat-kenda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-petugas-tugas-sa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-petugas-inspeksi-3-sisi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-petugas-ukur-di-foto-a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1-petugas-ukur-kedalaman-foto-sa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2-petugas-ukuran-dan-cata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3-koordinator-ringkasan-ka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4-koordinator-ringkasan-cua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5-petugas-analisi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6-petugas-analisis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-petugas-analisis-pi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8-petugas-analisis-pinn-ha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9-petugas-analisis-pinn-keputu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-koordinator-spk-te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1-koordinator-verifikasi-perbai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2-warga-kawal-seles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3-warga-notifik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5"/>
                </a:solidFill>
                <a:latin typeface="Segoe UI"/>
              </a:defRPr>
            </a:pPr>
            <a:r>
              <a:t>Rekaman layar: simulasi A warga-melapor</a:t>
            </a:r>
          </a:p>
        </p:txBody>
      </p:sp>
      <p:pic>
        <p:nvPicPr>
          <p:cNvPr id="8" name="simulasi_A_warga-melapo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828800"/>
            <a:ext cx="8686800" cy="484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5"/>
                </a:solidFill>
                <a:latin typeface="Segoe UI"/>
              </a:defRPr>
            </a:pPr>
            <a:r>
              <a:t>Rekaman layar: simulasi A petugas-inspeksi</a:t>
            </a:r>
          </a:p>
        </p:txBody>
      </p:sp>
      <p:pic>
        <p:nvPicPr>
          <p:cNvPr id="8" name="simulasi_A_petugas-inspeksi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828800"/>
            <a:ext cx="8686800" cy="484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warga-peta-sekitar-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warga-kamera-ai-langs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warga-foto-dipil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warga-hasil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warga-foto-3-s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5"/>
                </a:solidFill>
                <a:latin typeface="Segoe UI"/>
              </a:defRPr>
            </a:pPr>
            <a:r>
              <a:t>Rekaman layar: simulasi B warga-melapor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5"/>
                </a:solidFill>
                <a:latin typeface="Segoe UI"/>
              </a:defRPr>
            </a:pPr>
            <a:r>
              <a:t>Rekaman layar: simulasi B petugas-inspeksi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6 · AI yang bertanggung jawab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  <a:latin typeface="Segoe UI"/>
              </a:defRPr>
            </a:pPr>
            <a:r>
              <a:t>Manusia tetap memutuskan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Setiap keputusan staf wajib beralasan dan tercatat (audit log).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Hasil AI dari klien dibuang; server hanya memakai analisis dari penyimpanannya sendiri.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EXIF foto dihapus, lokasi dari GPS saat itu, bahasa netral tanpa tuduhan.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Pengusul penanganan tidak bisa menyetujui sendiri; angka diberi label terukur/asumsi.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7 · Kelayakan &amp; rencana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  <a:latin typeface="Segoe UI"/>
              </a:defRPr>
            </a:pPr>
            <a:r>
              <a:t>Dari pilot ke skala kota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Pilot: DKI Jakarta + Karawang dengan 5 instansi (nasional, provinsi, kota/kabupaten).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Berjalan di laptop biasa; siap VPS/Docker (deploy_vm.sh, docker-compose).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Berikutnya: uji NPU Intel Core Ultra, akurasi lapangan ≥ 20 foto/kelas, uji SUS warga &amp; petugas.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Skala: basis data, integrasi SIM jalan instansi, data WIM untuk beban truk.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4F4F5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D60A"/>
                </a:solidFill>
                <a:latin typeface="Segoe UI"/>
              </a:defRPr>
            </a:pPr>
            <a:r>
              <a:t>Coba langsung: https://avlfelo.tail8b73d2.ts.net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1A1AA"/>
                </a:solidFill>
                <a:latin typeface="Segoe UI"/>
              </a:defRPr>
            </a:pPr>
            <a:r>
              <a:t>Kode &amp; dokumentasi: github.com/muhammadkiro516-netizen/Pavement-PINN-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